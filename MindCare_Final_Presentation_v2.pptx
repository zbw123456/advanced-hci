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gap between expensive wearables and manual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MindCare: A Privacy-First Multimodal Emotion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HCI Final Project</a:t>
            </a:r>
          </a:p>
          <a:p>
            <a:r>
              <a:t>v2.0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&amp; 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The Field: Affective Computing &amp; HCI applied to Mental Health.</a:t>
            </a:r>
          </a:p>
          <a:p>
            <a:pPr>
              <a:defRPr sz="2000"/>
            </a:pPr>
            <a:r>
              <a:t>The Problem: 'Invisible Stress'</a:t>
            </a:r>
          </a:p>
          <a:p>
            <a:pPr lvl="1">
              <a:defRPr sz="2000"/>
            </a:pPr>
            <a:r>
              <a:t>Low Self-Awareness: Missing early signs of burnout.</a:t>
            </a:r>
          </a:p>
          <a:p>
            <a:pPr lvl="1">
              <a:defRPr sz="2000"/>
            </a:pPr>
            <a:r>
              <a:t>Lack of Tools:</a:t>
            </a:r>
          </a:p>
          <a:p>
            <a:pPr lvl="1">
              <a:defRPr sz="2000"/>
            </a:pPr>
            <a:r>
              <a:t>Wearables are intrusive/expensive.</a:t>
            </a:r>
          </a:p>
          <a:p>
            <a:pPr lvl="1">
              <a:defRPr sz="2000"/>
            </a:pPr>
            <a:r>
              <a:t>Manual journaling suffers from bias.</a:t>
            </a:r>
          </a:p>
          <a:p>
            <a:pPr lvl="1">
              <a:defRPr sz="2000"/>
            </a:pPr>
            <a:r>
              <a:t>Privacy Concerns: Distrust of cloud-based analysis.</a:t>
            </a:r>
          </a:p>
          <a:p>
            <a:pPr>
              <a:defRPr sz="2000"/>
            </a:pPr>
            <a:r>
              <a:t>Goal: A locally processing desktop companion.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Current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Physiological Sensors (Wearables)</a:t>
            </a:r>
          </a:p>
          <a:p>
            <a:pPr lvl="1">
              <a:defRPr sz="2000"/>
            </a:pPr>
            <a:r>
              <a:t>Pros: High accuracy (HRV, GSR).</a:t>
            </a:r>
          </a:p>
          <a:p>
            <a:pPr lvl="1">
              <a:defRPr sz="2000"/>
            </a:pPr>
            <a:r>
              <a:t>Cons: High barrier, charging fatigue, discomfort.</a:t>
            </a:r>
          </a:p>
          <a:p>
            <a:pPr>
              <a:defRPr sz="2000"/>
            </a:pPr>
            <a:r>
              <a:t>2. Self-Reporting (Apps)</a:t>
            </a:r>
          </a:p>
          <a:p>
            <a:pPr lvl="1">
              <a:defRPr sz="2000"/>
            </a:pPr>
            <a:r>
              <a:t>Pros: Captures subjective experience.</a:t>
            </a:r>
          </a:p>
          <a:p>
            <a:pPr lvl="1">
              <a:defRPr sz="2000"/>
            </a:pPr>
            <a:r>
              <a:t>Cons: High friction, data gaps, retrospective bias.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Technical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Facial Expression Recognition (FER)</a:t>
            </a:r>
          </a:p>
          <a:p>
            <a:pPr lvl="1">
              <a:defRPr sz="2000"/>
            </a:pPr>
            <a:r>
              <a:t>Traditional ML: Haar Cascades + SVM. Fast but less accurate.</a:t>
            </a:r>
          </a:p>
          <a:p>
            <a:pPr lvl="1">
              <a:defRPr sz="2000"/>
            </a:pPr>
            <a:r>
              <a:t>Deep Learning: CNNs (VGG-16, ResNet). High accuracy but heavy.</a:t>
            </a:r>
          </a:p>
          <a:p>
            <a:pPr>
              <a:defRPr sz="2000"/>
            </a:pPr>
            <a:r>
              <a:t>The Gap:</a:t>
            </a:r>
          </a:p>
          <a:p>
            <a:pPr lvl="1">
              <a:defRPr sz="2000"/>
            </a:pPr>
            <a:r>
              <a:t>Most SOTA models require GPUs or Cloud APIs.</a:t>
            </a:r>
          </a:p>
          <a:p>
            <a:pPr lvl="1">
              <a:defRPr sz="2000"/>
            </a:pPr>
            <a:r>
              <a:t>Need for lightweight, privacy-preserving local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MindCare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Concept: Non-intrusive desktop app monitoring emotion via webcam.</a:t>
            </a:r>
          </a:p>
          <a:p>
            <a:pPr>
              <a:defRPr sz="2000"/>
            </a:pPr>
            <a:r>
              <a:t>The ARCADE Framework:</a:t>
            </a:r>
          </a:p>
          <a:p>
            <a:pPr lvl="1">
              <a:defRPr sz="2000"/>
            </a:pPr>
            <a:r>
              <a:t>Awareness: Real-time visual feedback.</a:t>
            </a:r>
          </a:p>
          <a:p>
            <a:pPr lvl="1">
              <a:defRPr sz="2000"/>
            </a:pPr>
            <a:r>
              <a:t>Responsiveness: Immediate alerts.</a:t>
            </a:r>
          </a:p>
          <a:p>
            <a:pPr lvl="1">
              <a:defRPr sz="2000"/>
            </a:pPr>
            <a:r>
              <a:t>Control: Local encrypted storage.</a:t>
            </a:r>
          </a:p>
          <a:p>
            <a:pPr>
              <a:defRPr sz="2000"/>
            </a:pPr>
            <a:r>
              <a:t>Key Innovation:</a:t>
            </a:r>
          </a:p>
          <a:p>
            <a:pPr lvl="1">
              <a:defRPr sz="2000"/>
            </a:pPr>
            <a:r>
              <a:t>'Privacy by Design' - No video frames leave the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Functionality: Real-Time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Vision Pipeline:</a:t>
            </a:r>
          </a:p>
          <a:p>
            <a:pPr lvl="1">
              <a:defRPr sz="2000"/>
            </a:pPr>
            <a:r>
              <a:t>Face Detection (Haar Cascades).</a:t>
            </a:r>
          </a:p>
          <a:p>
            <a:pPr lvl="1">
              <a:defRPr sz="2000"/>
            </a:pPr>
            <a:r>
              <a:t>Smile Detection (Geometric analysis).</a:t>
            </a:r>
          </a:p>
          <a:p>
            <a:pPr>
              <a:defRPr sz="2000"/>
            </a:pPr>
            <a:r>
              <a:t>Visual Feedback:</a:t>
            </a:r>
          </a:p>
          <a:p>
            <a:pPr lvl="1">
              <a:defRPr sz="2000"/>
            </a:pPr>
            <a:r>
              <a:t>'Searching...' (Red status).</a:t>
            </a:r>
          </a:p>
          <a:p>
            <a:pPr lvl="1">
              <a:defRPr sz="2000"/>
            </a:pPr>
            <a:r>
              <a:t>'Face Detected' (Green status).</a:t>
            </a:r>
          </a:p>
          <a:p>
            <a:pPr lvl="1">
              <a:defRPr sz="2000"/>
            </a:pPr>
            <a:r>
              <a:t>'Smiling! :)' (Yellow reactive status).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Functionality: 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Built with PyQt5 for Professional UX.</a:t>
            </a:r>
          </a:p>
          <a:p>
            <a:pPr>
              <a:defRPr sz="2000"/>
            </a:pPr>
            <a:r>
              <a:t>Dynamic Metrics:</a:t>
            </a:r>
          </a:p>
          <a:p>
            <a:pPr lvl="1">
              <a:defRPr sz="2000"/>
            </a:pPr>
            <a:r>
              <a:t>Emotion Probabilities (Bar Charts).</a:t>
            </a:r>
          </a:p>
          <a:p>
            <a:pPr lvl="1">
              <a:defRPr sz="2000"/>
            </a:pPr>
            <a:r>
              <a:t>Stress Index (Calculated metric).</a:t>
            </a:r>
          </a:p>
          <a:p>
            <a:pPr lvl="1">
              <a:defRPr sz="2000"/>
            </a:pPr>
            <a:r>
              <a:t>Trend Buffer (15-min sliding window).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Functionality: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Local Processing Only (No Cloud).</a:t>
            </a:r>
          </a:p>
          <a:p>
            <a:pPr>
              <a:defRPr sz="2000"/>
            </a:pPr>
            <a:r>
              <a:t>Encryption:</a:t>
            </a:r>
          </a:p>
          <a:p>
            <a:pPr lvl="1">
              <a:defRPr sz="2000"/>
            </a:pPr>
            <a:r>
              <a:t>Uses AES-128 via cryptography.fernet.</a:t>
            </a:r>
          </a:p>
          <a:p>
            <a:pPr lvl="1">
              <a:defRPr sz="2000"/>
            </a:pPr>
            <a:r>
              <a:t>Session logs encrypted at rest.</a:t>
            </a:r>
          </a:p>
          <a:p>
            <a:pPr>
              <a:defRPr sz="2000"/>
            </a:pPr>
            <a:r>
              <a:t>Key Management:</a:t>
            </a:r>
          </a:p>
          <a:p>
            <a:pPr lvl="1">
              <a:defRPr sz="2000"/>
            </a:pPr>
            <a:r>
              <a:t>Keys generated and stored locally.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Functionality: System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Finite State Machine (FSM) driven.</a:t>
            </a:r>
          </a:p>
          <a:p>
            <a:pPr>
              <a:defRPr sz="2000"/>
            </a:pPr>
            <a:r>
              <a:t>States:</a:t>
            </a:r>
          </a:p>
          <a:p>
            <a:pPr lvl="1">
              <a:defRPr sz="2000"/>
            </a:pPr>
            <a:r>
              <a:t>Initializing</a:t>
            </a:r>
          </a:p>
          <a:p>
            <a:pPr lvl="1">
              <a:defRPr sz="2000"/>
            </a:pPr>
            <a:r>
              <a:t>Monitoring (Active Loop)</a:t>
            </a:r>
          </a:p>
          <a:p>
            <a:pPr lvl="1">
              <a:defRPr sz="2000"/>
            </a:pPr>
            <a:r>
              <a:t>Paused (Privacy Mode)</a:t>
            </a:r>
          </a:p>
          <a:p>
            <a:pPr lvl="1">
              <a:defRPr sz="2000"/>
            </a:pPr>
            <a:r>
              <a:t>Alerting (Stress &gt; Threshold)</a:t>
            </a:r>
          </a:p>
          <a:p>
            <a:pPr>
              <a:defRPr sz="2000"/>
            </a:pPr>
            <a:r>
              <a:t>Error Recovery: Handles camera disconnects gracefully.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Persona: Maria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Profile: Maria Chen (28), Senior Developer.</a:t>
            </a:r>
          </a:p>
          <a:p>
            <a:pPr>
              <a:defRPr sz="2000"/>
            </a:pPr>
            <a:r>
              <a:t>Behaviors:</a:t>
            </a:r>
          </a:p>
          <a:p>
            <a:pPr lvl="1">
              <a:defRPr sz="2000"/>
            </a:pPr>
            <a:r>
              <a:t>8+ hours screen time.</a:t>
            </a:r>
          </a:p>
          <a:p>
            <a:pPr lvl="1">
              <a:defRPr sz="2000"/>
            </a:pPr>
            <a:r>
              <a:t>Enters 'flow' but forgets self-care.</a:t>
            </a:r>
          </a:p>
          <a:p>
            <a:pPr lvl="1">
              <a:defRPr sz="2000"/>
            </a:pPr>
            <a:r>
              <a:t>Privacy conscious (covers webcam).</a:t>
            </a:r>
          </a:p>
          <a:p>
            <a:pPr>
              <a:defRPr sz="2000"/>
            </a:pPr>
            <a:r>
              <a:t>Pain Points:</a:t>
            </a:r>
          </a:p>
          <a:p>
            <a:pPr lvl="1">
              <a:defRPr sz="2000"/>
            </a:pPr>
            <a:r>
              <a:t>Unexpected burnout.</a:t>
            </a:r>
          </a:p>
          <a:p>
            <a:pPr lvl="1">
              <a:defRPr sz="2000"/>
            </a:pPr>
            <a:r>
              <a:t>Physical tension headaches.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Morning 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09:00 AM: Start</a:t>
            </a:r>
          </a:p>
          <a:p>
            <a:pPr lvl="1">
              <a:defRPr sz="2000"/>
            </a:pPr>
            <a:r>
              <a:t>Maria launches MindCare background process.</a:t>
            </a:r>
          </a:p>
          <a:p>
            <a:pPr lvl="1">
              <a:defRPr sz="2000"/>
            </a:pPr>
            <a:r>
              <a:t>Green light confirms system ready.</a:t>
            </a:r>
          </a:p>
          <a:p>
            <a:pPr>
              <a:defRPr sz="2000"/>
            </a:pPr>
            <a:r>
              <a:t>11:30 AM: Deep Work</a:t>
            </a:r>
          </a:p>
          <a:p>
            <a:pPr lvl="1">
              <a:defRPr sz="2000"/>
            </a:pPr>
            <a:r>
              <a:t>Maria encounters a bug.</a:t>
            </a:r>
          </a:p>
          <a:p>
            <a:pPr lvl="1">
              <a:defRPr sz="2000"/>
            </a:pPr>
            <a:r>
              <a:t>Unconsciously frowns/tenses for 45 mins.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11:45 AM: Detection</a:t>
            </a:r>
          </a:p>
          <a:p>
            <a:pPr lvl="1">
              <a:defRPr sz="2000"/>
            </a:pPr>
            <a:r>
              <a:t>System detects negative valence &gt; 0.8.</a:t>
            </a:r>
          </a:p>
          <a:p>
            <a:pPr lvl="1">
              <a:defRPr sz="2000"/>
            </a:pPr>
            <a:r>
              <a:t>Triggers Stress Alert.</a:t>
            </a:r>
          </a:p>
          <a:p>
            <a:pPr>
              <a:defRPr sz="2000"/>
            </a:pPr>
            <a:r>
              <a:t>11:50 AM: Action</a:t>
            </a:r>
          </a:p>
          <a:p>
            <a:pPr lvl="1">
              <a:defRPr sz="2000"/>
            </a:pPr>
            <a:r>
              <a:t>Notification: 'High stress detected. Stretch?'</a:t>
            </a:r>
          </a:p>
          <a:p>
            <a:pPr lvl="1">
              <a:defRPr sz="2000"/>
            </a:pPr>
            <a:r>
              <a:t>Maria takes a break, smiles at a meme.</a:t>
            </a:r>
          </a:p>
          <a:p>
            <a:pPr lvl="1">
              <a:defRPr sz="2000"/>
            </a:pPr>
            <a:r>
              <a:t>System logs 'Happy' spike, stress resets.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Minimalist Setup (No Wearables)</a:t>
            </a:r>
          </a:p>
          <a:p>
            <a:pPr>
              <a:defRPr sz="2000"/>
            </a:pPr>
            <a:r>
              <a:t>Camera:</a:t>
            </a:r>
          </a:p>
          <a:p>
            <a:pPr lvl="1">
              <a:defRPr sz="2000"/>
            </a:pPr>
            <a:r>
              <a:t>Standard Webcam (720p, 30fps).</a:t>
            </a:r>
          </a:p>
          <a:p>
            <a:pPr>
              <a:defRPr sz="2000"/>
            </a:pPr>
            <a:r>
              <a:t>Computing:</a:t>
            </a:r>
          </a:p>
          <a:p>
            <a:pPr lvl="1">
              <a:defRPr sz="2000"/>
            </a:pPr>
            <a:r>
              <a:t>Dual Core CPU (2.0GHz+).</a:t>
            </a:r>
          </a:p>
          <a:p>
            <a:pPr lvl="1">
              <a:defRPr sz="2000"/>
            </a:pPr>
            <a:r>
              <a:t>8GB RAM.</a:t>
            </a:r>
          </a:p>
          <a:p>
            <a:pPr>
              <a:defRPr sz="2000"/>
            </a:pPr>
            <a:r>
              <a:t>Storage:</a:t>
            </a:r>
          </a:p>
          <a:p>
            <a:pPr lvl="1">
              <a:defRPr sz="2000"/>
            </a:pPr>
            <a:r>
              <a:t>&lt;100MB for application +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Language: Python 3.9+</a:t>
            </a:r>
          </a:p>
          <a:p>
            <a:pPr>
              <a:defRPr sz="2000"/>
            </a:pPr>
            <a:r>
              <a:t>GUI: PyQt5 (Signals/Slots architecture)</a:t>
            </a:r>
          </a:p>
          <a:p>
            <a:pPr>
              <a:defRPr sz="2000"/>
            </a:pPr>
            <a:r>
              <a:t>Computer Vision: OpenCV (cv2)</a:t>
            </a:r>
          </a:p>
          <a:p>
            <a:pPr>
              <a:defRPr sz="2000"/>
            </a:pPr>
            <a:r>
              <a:t>Security: Cryptography (Fernet AES)</a:t>
            </a:r>
          </a:p>
          <a:p>
            <a:pPr>
              <a:defRPr sz="2000"/>
            </a:pPr>
            <a:r>
              <a:t>Data: NumPy, SQLite (JSON logs)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Model-View-Controller (MVC)</a:t>
            </a:r>
          </a:p>
          <a:p>
            <a:pPr lvl="1">
              <a:defRPr sz="2000"/>
            </a:pPr>
            <a:r>
              <a:t>Model: FSM Logic, Security Manager</a:t>
            </a:r>
          </a:p>
          <a:p>
            <a:pPr lvl="1">
              <a:defRPr sz="2000"/>
            </a:pPr>
            <a:r>
              <a:t>View: MainWindow, VideoWidget (PyQt5)</a:t>
            </a:r>
          </a:p>
          <a:p>
            <a:pPr lvl="1">
              <a:defRPr sz="2000"/>
            </a:pPr>
            <a:r>
              <a:t>Controller: MainApp, CameraThread</a:t>
            </a:r>
          </a:p>
          <a:p>
            <a:pPr>
              <a:defRPr sz="2000"/>
            </a:pPr>
            <a:r>
              <a:t>Threading:</a:t>
            </a:r>
          </a:p>
          <a:p>
            <a:pPr lvl="1">
              <a:defRPr sz="2000"/>
            </a:pPr>
            <a:r>
              <a:t>QThread used for non-blocking UI.</a:t>
            </a:r>
          </a:p>
          <a:p>
            <a:pPr lvl="1">
              <a:defRPr sz="2000"/>
            </a:pPr>
            <a:r>
              <a:t>Signals for thread-safe updates.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[ Diagram Description ]</a:t>
            </a:r>
          </a:p>
          <a:p>
            <a:pPr>
              <a:defRPr sz="2000"/>
            </a:pPr>
            <a:r>
              <a:t>Presentation Layer (UI)</a:t>
            </a:r>
          </a:p>
          <a:p>
            <a:pPr lvl="1">
              <a:defRPr sz="2000"/>
            </a:pPr>
            <a:r>
              <a:t>|</a:t>
            </a:r>
          </a:p>
          <a:p>
            <a:pPr lvl="1">
              <a:defRPr sz="2000"/>
            </a:pPr>
            <a:r>
              <a:t>v</a:t>
            </a:r>
          </a:p>
          <a:p>
            <a:pPr>
              <a:defRPr sz="2000"/>
            </a:pPr>
            <a:r>
              <a:t>Application Layer (Main Control)</a:t>
            </a:r>
          </a:p>
          <a:p>
            <a:pPr lvl="1">
              <a:defRPr sz="2000"/>
            </a:pPr>
            <a:r>
              <a:t>|</a:t>
            </a:r>
          </a:p>
          <a:p>
            <a:pPr lvl="1">
              <a:defRPr sz="2000"/>
            </a:pPr>
            <a:r>
              <a:t>v</a:t>
            </a:r>
          </a:p>
          <a:p>
            <a:pPr>
              <a:defRPr sz="2000"/>
            </a:pPr>
            <a:r>
              <a:t>Processing Layer (CV/ML)</a:t>
            </a:r>
          </a:p>
          <a:p>
            <a:pPr lvl="1">
              <a:defRPr sz="2000"/>
            </a:pPr>
            <a:r>
              <a:t>|</a:t>
            </a:r>
          </a:p>
          <a:p>
            <a:pPr lvl="1">
              <a:defRPr sz="2000"/>
            </a:pPr>
            <a:r>
              <a:t>v</a:t>
            </a:r>
          </a:p>
          <a:p>
            <a:pPr>
              <a:defRPr sz="2000"/>
            </a:pPr>
            <a:r>
              <a:t>Hardware Layer (Camera)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State Chart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States Flow:</a:t>
            </a:r>
          </a:p>
          <a:p>
            <a:pPr lvl="1">
              <a:defRPr sz="2000"/>
            </a:pPr>
            <a:r>
              <a:t>[Start] -&gt; [Initializing] -&gt; [Monitoring]</a:t>
            </a:r>
          </a:p>
          <a:p>
            <a:pPr lvl="1">
              <a:defRPr sz="2000"/>
            </a:pPr>
            <a:r>
              <a:t>[Monitoring] &lt;-&gt; [Paused]</a:t>
            </a:r>
          </a:p>
          <a:p>
            <a:pPr lvl="1">
              <a:defRPr sz="2000"/>
            </a:pPr>
            <a:r>
              <a:t>[Monitoring] -&gt; [Alerting] (Stress &gt; 0.8)</a:t>
            </a:r>
          </a:p>
          <a:p>
            <a:pPr lvl="1">
              <a:defRPr sz="2000"/>
            </a:pPr>
            <a:r>
              <a:t>[Monitoring] -&gt; [Stopped] -&gt; [Exit]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Latency: &lt; 50ms end-to-end.</a:t>
            </a:r>
          </a:p>
          <a:p>
            <a:pPr>
              <a:defRPr sz="2000"/>
            </a:pPr>
            <a:r>
              <a:t>Responsiveness: UI remains fluid (60fps) via Threading.</a:t>
            </a:r>
          </a:p>
          <a:p>
            <a:pPr>
              <a:defRPr sz="2000"/>
            </a:pPr>
            <a:r>
              <a:t>Accuracy:</a:t>
            </a:r>
          </a:p>
          <a:p>
            <a:pPr lvl="1">
              <a:defRPr sz="2000"/>
            </a:pPr>
            <a:r>
              <a:t>Face Detection: &gt;95% (frontal).</a:t>
            </a:r>
          </a:p>
          <a:p>
            <a:pPr lvl="1">
              <a:defRPr sz="2000"/>
            </a:pPr>
            <a:r>
              <a:t>Smile Detection: Reliable trigger for 'Happy'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Visual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Dark Mode Design for reduced eye strain.</a:t>
            </a:r>
          </a:p>
          <a:p>
            <a:pPr>
              <a:defRPr sz="2000"/>
            </a:pPr>
            <a:r>
              <a:t>Split View:</a:t>
            </a:r>
          </a:p>
          <a:p>
            <a:pPr lvl="1">
              <a:defRPr sz="2000"/>
            </a:pPr>
            <a:r>
              <a:t>Left: Real-time Camera Feed + Overlays.</a:t>
            </a:r>
          </a:p>
          <a:p>
            <a:pPr lvl="1">
              <a:defRPr sz="2000"/>
            </a:pPr>
            <a:r>
              <a:t>Right: Analytical Dashboards.</a:t>
            </a:r>
          </a:p>
          <a:p>
            <a:pPr>
              <a:defRPr sz="2000"/>
            </a:pPr>
            <a:r>
              <a:t>Key Feedback:</a:t>
            </a:r>
          </a:p>
          <a:p>
            <a:pPr lvl="1">
              <a:defRPr sz="2000"/>
            </a:pPr>
            <a:r>
              <a:t>'Searching...' text prevents user confusion.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Lessons Learnt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Conclusions:</a:t>
            </a:r>
          </a:p>
          <a:p>
            <a:pPr lvl="1">
              <a:defRPr sz="2000"/>
            </a:pPr>
            <a:r>
              <a:t>Privacy-preserving desktop monitoring is viable.</a:t>
            </a:r>
          </a:p>
          <a:p>
            <a:pPr lvl="1">
              <a:defRPr sz="2000"/>
            </a:pPr>
            <a:r>
              <a:t>Reactive algorithms effectively simulate awareness.</a:t>
            </a:r>
          </a:p>
          <a:p>
            <a:pPr>
              <a:defRPr sz="2000"/>
            </a:pPr>
            <a:r>
              <a:t>Lessons:</a:t>
            </a:r>
          </a:p>
          <a:p>
            <a:pPr lvl="1">
              <a:defRPr sz="2000"/>
            </a:pPr>
            <a:r>
              <a:t>Concurrency is critical for GUI+CV.</a:t>
            </a:r>
          </a:p>
          <a:p>
            <a:pPr lvl="1">
              <a:defRPr sz="2000"/>
            </a:pPr>
            <a:r>
              <a:t>Clear visual feedback is essential for UX.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Ekman, P. (1992). An argument for basic emotions.</a:t>
            </a:r>
          </a:p>
          <a:p>
            <a:pPr>
              <a:defRPr sz="2000"/>
            </a:pPr>
            <a:r>
              <a:t>2. Calvo, R. A. (2010). Affect detection review.</a:t>
            </a:r>
          </a:p>
          <a:p>
            <a:pPr>
              <a:defRPr sz="2000"/>
            </a:pPr>
            <a:r>
              <a:t>3. Viola, P., &amp; Jones, M. (2001). Rapid object detection (CVPR).</a:t>
            </a:r>
          </a:p>
          <a:p>
            <a:pPr>
              <a:defRPr sz="2000"/>
            </a:pPr>
            <a:r>
              <a:t>4. PyQt5 Documentation.</a:t>
            </a:r>
          </a:p>
          <a:p>
            <a:pPr>
              <a:defRPr sz="2000"/>
            </a:pPr>
            <a:r>
              <a:t>5. OpenAI / OpenCV Community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