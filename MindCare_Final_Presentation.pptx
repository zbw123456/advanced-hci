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67EEA"/>
                </a:solidFill>
              </a:defRPr>
            </a:pPr>
            <a:r>
              <a:t>MindCare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B9CF"/>
                </a:solidFill>
              </a:defRPr>
            </a:pPr>
            <a:r>
              <a:t>Mental Well-being Monitoring System with Multimodal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8B9CF"/>
                </a:solidFill>
              </a:defRPr>
            </a:pPr>
            <a:r>
              <a:t>Advanced HCI 2025-2026  •  University of Trento  •  Bowen Zhang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 •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Problem Definition</a:t>
            </a:r>
          </a:p>
          <a:p>
            <a:pPr>
              <a:spcAft>
                <a:spcPts val="2400"/>
              </a:spcAft>
              <a:defRPr sz="1800">
                <a:solidFill>
                  <a:srgbClr val="B8B9CF"/>
                </a:solidFill>
              </a:defRPr>
            </a:pPr>
            <a:r>
              <a:t>Many individuals fail to recognize early warning signs of stress and anxiety, leading to delayed intervention and deteriorating mental health outcomes.</a:t>
            </a:r>
          </a:p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Key Issues</a:t>
            </a:r>
          </a:p>
          <a:p>
            <a:pPr>
              <a:spcAft>
                <a:spcPts val="800"/>
              </a:spcAft>
              <a:defRPr sz="1600">
                <a:solidFill>
                  <a:srgbClr val="B8B9CF"/>
                </a:solidFill>
              </a:defRPr>
            </a:pPr>
            <a:r>
              <a:t>→  Lack of self-awareness for gradual emotional changes</a:t>
            </a:r>
          </a:p>
          <a:p>
            <a:pPr>
              <a:spcAft>
                <a:spcPts val="800"/>
              </a:spcAft>
              <a:defRPr sz="1600">
                <a:solidFill>
                  <a:srgbClr val="B8B9CF"/>
                </a:solidFill>
              </a:defRPr>
            </a:pPr>
            <a:r>
              <a:t>→  Stigma prevents early help-seeking behavior</a:t>
            </a:r>
          </a:p>
          <a:p>
            <a:pPr>
              <a:spcAft>
                <a:spcPts val="800"/>
              </a:spcAft>
              <a:defRPr sz="1600">
                <a:solidFill>
                  <a:srgbClr val="B8B9CF"/>
                </a:solidFill>
              </a:defRPr>
            </a:pPr>
            <a:r>
              <a:t>→  Traditional services are reactive, not proactive</a:t>
            </a:r>
          </a:p>
          <a:p>
            <a:pPr>
              <a:spcAft>
                <a:spcPts val="800"/>
              </a:spcAft>
              <a:defRPr sz="1600">
                <a:solidFill>
                  <a:srgbClr val="B8B9CF"/>
                </a:solidFill>
              </a:defRPr>
            </a:pPr>
            <a:r>
              <a:t>→  Accessibility barriers to mental health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Multimodal 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 •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📹 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9CF"/>
                </a:solidFill>
              </a:defRPr>
            </a:pPr>
            <a:r>
              <a:t>Assignment: Passive facial expression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🎤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9CF"/>
                </a:solidFill>
              </a:defRPr>
            </a:pPr>
            <a:r>
              <a:t>Redundancy: Hands-free commands for status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👆 Touch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8B9CF"/>
                </a:solidFill>
              </a:defRPr>
            </a:pPr>
            <a:r>
              <a:t>Complementarity: Detailed configuration &amp;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Advantages</a:t>
            </a:r>
          </a:p>
          <a:p>
            <a:br/>
            <a:pPr>
              <a:defRPr sz="1400">
                <a:solidFill>
                  <a:srgbClr val="B8B9CF"/>
                </a:solidFill>
              </a:defRPr>
            </a:pPr>
            <a:r>
              <a:t>• Non-intrusive monitoring</a:t>
            </a:r>
            <a:br/>
            <a:r>
              <a:t>• Early warning capabilities</a:t>
            </a:r>
            <a:br/>
            <a:r>
              <a:t>• Multi-modal accessibility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754880"/>
            <a:ext cx="3657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⚠️ Challenges</a:t>
            </a:r>
          </a:p>
          <a:p>
            <a:br/>
            <a:pPr>
              <a:defRPr sz="1400">
                <a:solidFill>
                  <a:srgbClr val="B8B9CF"/>
                </a:solidFill>
              </a:defRPr>
            </a:pPr>
            <a:r>
              <a:t>• Privacy concerns</a:t>
            </a:r>
            <a:br/>
            <a:r>
              <a:t>• FER accuracy ~70%</a:t>
            </a:r>
            <a:br/>
            <a:r>
              <a:t>• Individual variation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Persona &amp;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II • USER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t>👤 Persona: Maria Chen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🎯 Profile</a:t>
            </a:r>
          </a:p>
          <a:p>
            <a:pPr>
              <a:spcAft>
                <a:spcPts val="1200"/>
              </a:spcAft>
              <a:defRPr sz="1400">
                <a:solidFill>
                  <a:srgbClr val="B8B9CF"/>
                </a:solidFill>
              </a:defRPr>
            </a:pPr>
            <a:r>
              <a:t>28-year-old software developer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😰 Pain Point</a:t>
            </a:r>
          </a:p>
          <a:p>
            <a:pPr>
              <a:spcAft>
                <a:spcPts val="1200"/>
              </a:spcAft>
              <a:defRPr sz="1400">
                <a:solidFill>
                  <a:srgbClr val="B8B9CF"/>
                </a:solidFill>
              </a:defRPr>
            </a:pPr>
            <a:r>
              <a:t>Workplace stress, unaware of patterns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🎯 Goal</a:t>
            </a:r>
          </a:p>
          <a:p>
            <a:pPr>
              <a:spcAft>
                <a:spcPts val="1200"/>
              </a:spcAft>
              <a:defRPr sz="1400">
                <a:solidFill>
                  <a:srgbClr val="B8B9CF"/>
                </a:solidFill>
              </a:defRPr>
            </a:pPr>
            <a:r>
              <a:t>Better work-life balance</a:t>
            </a:r>
          </a:p>
          <a:p>
            <a:pPr>
              <a:spcAft>
                <a:spcPts val="400"/>
              </a:spcAft>
              <a:defRPr sz="1600" b="1">
                <a:solidFill>
                  <a:srgbClr val="667EEA"/>
                </a:solidFill>
              </a:defRPr>
            </a:pPr>
            <a:r>
              <a:t>💻 Tech Savvy</a:t>
            </a:r>
          </a:p>
          <a:p>
            <a:pPr>
              <a:spcAft>
                <a:spcPts val="1200"/>
              </a:spcAft>
              <a:defRPr sz="1400">
                <a:solidFill>
                  <a:srgbClr val="B8B9CF"/>
                </a:solidFill>
              </a:defRPr>
            </a:pPr>
            <a:r>
              <a:t>Comfortable with health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t>📖 Day-in-the-Life</a:t>
            </a:r>
          </a:p>
          <a:p>
            <a:pPr>
              <a:spcAft>
                <a:spcPts val="200"/>
              </a:spcAft>
              <a:defRPr sz="1400" b="1">
                <a:solidFill>
                  <a:srgbClr val="4FACFE"/>
                </a:solidFill>
              </a:defRPr>
            </a:pPr>
            <a:r>
              <a:t>9:00 AM</a:t>
            </a:r>
          </a:p>
          <a:p>
            <a:pPr>
              <a:spcAft>
                <a:spcPts val="1000"/>
              </a:spcAft>
              <a:defRPr sz="1300">
                <a:solidFill>
                  <a:srgbClr val="B8B9CF"/>
                </a:solidFill>
              </a:defRPr>
            </a:pPr>
            <a:r>
              <a:t>MindCare starts monitoring</a:t>
            </a:r>
          </a:p>
          <a:p>
            <a:pPr>
              <a:spcAft>
                <a:spcPts val="200"/>
              </a:spcAft>
              <a:defRPr sz="1400" b="1">
                <a:solidFill>
                  <a:srgbClr val="4FACFE"/>
                </a:solidFill>
              </a:defRPr>
            </a:pPr>
            <a:r>
              <a:t>2:30 PM</a:t>
            </a:r>
          </a:p>
          <a:p>
            <a:pPr>
              <a:spcAft>
                <a:spcPts val="1000"/>
              </a:spcAft>
              <a:defRPr sz="1300">
                <a:solidFill>
                  <a:srgbClr val="B8B9CF"/>
                </a:solidFill>
              </a:defRPr>
            </a:pPr>
            <a:r>
              <a:t>Detects 65% negative emotions</a:t>
            </a:r>
          </a:p>
          <a:p>
            <a:pPr>
              <a:spcAft>
                <a:spcPts val="200"/>
              </a:spcAft>
              <a:defRPr sz="1400" b="1">
                <a:solidFill>
                  <a:srgbClr val="4FACFE"/>
                </a:solidFill>
              </a:defRPr>
            </a:pPr>
            <a:r>
              <a:t>2:31 PM</a:t>
            </a:r>
          </a:p>
          <a:p>
            <a:pPr>
              <a:spcAft>
                <a:spcPts val="1000"/>
              </a:spcAft>
              <a:defRPr sz="1300">
                <a:solidFill>
                  <a:srgbClr val="B8B9CF"/>
                </a:solidFill>
              </a:defRPr>
            </a:pPr>
            <a:r>
              <a:t>Alert: 'Take a break'</a:t>
            </a:r>
          </a:p>
          <a:p>
            <a:pPr>
              <a:spcAft>
                <a:spcPts val="200"/>
              </a:spcAft>
              <a:defRPr sz="1400" b="1">
                <a:solidFill>
                  <a:srgbClr val="4FACFE"/>
                </a:solidFill>
              </a:defRPr>
            </a:pPr>
            <a:r>
              <a:t>2:35 PM</a:t>
            </a:r>
          </a:p>
          <a:p>
            <a:pPr>
              <a:spcAft>
                <a:spcPts val="1000"/>
              </a:spcAft>
              <a:defRPr sz="1300">
                <a:solidFill>
                  <a:srgbClr val="B8B9CF"/>
                </a:solidFill>
              </a:defRPr>
            </a:pPr>
            <a:r>
              <a:t>Maria walks, mood improves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Architecture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II • SYSTEM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1️⃣ Interface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9CF"/>
                </a:solidFill>
              </a:defRPr>
            </a:pPr>
            <a:r>
              <a:t>PyQt5 GUI • Voice Commands • 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7680960" cy="64008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2️⃣ Application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9CF"/>
                </a:solidFill>
              </a:defRPr>
            </a:pPr>
            <a:r>
              <a:t>FSM Controller (19 states) • Alert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00400"/>
            <a:ext cx="7680960" cy="64008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3️⃣ Processing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9CF"/>
                </a:solidFill>
              </a:defRPr>
            </a:pPr>
            <a:r>
              <a:t>OpenCV Face Detection • CNN Emotion 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77639"/>
            <a:ext cx="7680960" cy="640080"/>
          </a:xfrm>
          <a:prstGeom prst="rect">
            <a:avLst/>
          </a:prstGeom>
          <a:solidFill>
            <a:srgbClr val="141428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7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4️⃣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7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8B9CF"/>
                </a:solidFill>
              </a:defRPr>
            </a:pPr>
            <a:r>
              <a:t>SQLite Database • AES-256 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FFFFF"/>
                </a:solidFill>
              </a:defRPr>
            </a:pPr>
            <a:r>
              <a:t>Technology Stack</a:t>
            </a:r>
          </a:p>
          <a:p>
            <a:pPr algn="ctr">
              <a:defRPr sz="1400">
                <a:solidFill>
                  <a:srgbClr val="667EEA"/>
                </a:solidFill>
              </a:defRPr>
            </a:pPr>
            <a:r>
              <a:t>Python 3.8+  •  OpenCV 4.8+  •  TensorFlow 2.14+  •  PyQt5 5.15+  •  AES-256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Behavioral Model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III 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🔄 Finite State Machine</a:t>
            </a:r>
          </a:p>
          <a:p>
            <a:pPr>
              <a:spcAft>
                <a:spcPts val="1600"/>
              </a:spcAft>
              <a:defRPr sz="1400">
                <a:solidFill>
                  <a:srgbClr val="667EEA"/>
                </a:solidFill>
              </a:defRPr>
            </a:pPr>
            <a:r>
              <a:t>19 States | Comprehensive Error Handling</a:t>
            </a:r>
          </a:p>
          <a:p>
            <a:pPr>
              <a:spcAft>
                <a:spcPts val="800"/>
              </a:spcAft>
              <a:defRPr sz="1400" b="1">
                <a:solidFill>
                  <a:srgbClr val="B8B9CF"/>
                </a:solidFill>
              </a:defRPr>
            </a:pPr>
            <a:r>
              <a:t>Key State Transitions:</a:t>
            </a:r>
          </a:p>
          <a:p>
            <a:pPr>
              <a:spcAft>
                <a:spcPts val="400"/>
              </a:spcAft>
              <a:defRPr sz="1200">
                <a:solidFill>
                  <a:srgbClr val="B8B9CF"/>
                </a:solidFill>
              </a:defRPr>
            </a:pPr>
            <a:r>
              <a:t>  INIT → CAMERA_CHECK → MONITORING</a:t>
            </a:r>
          </a:p>
          <a:p>
            <a:pPr>
              <a:spcAft>
                <a:spcPts val="400"/>
              </a:spcAft>
              <a:defRPr sz="1200">
                <a:solidFill>
                  <a:srgbClr val="B8B9CF"/>
                </a:solidFill>
              </a:defRPr>
            </a:pPr>
            <a:r>
              <a:t>  MONITORING ↔ PAUSED</a:t>
            </a:r>
          </a:p>
          <a:p>
            <a:pPr>
              <a:spcAft>
                <a:spcPts val="400"/>
              </a:spcAft>
              <a:defRPr sz="1200">
                <a:solidFill>
                  <a:srgbClr val="B8B9CF"/>
                </a:solidFill>
              </a:defRPr>
            </a:pPr>
            <a:r>
              <a:t>  STRESS_DETECTED → ALERT</a:t>
            </a:r>
          </a:p>
          <a:p>
            <a:pPr>
              <a:spcAft>
                <a:spcPts val="400"/>
              </a:spcAft>
              <a:defRPr sz="1200">
                <a:solidFill>
                  <a:srgbClr val="B8B9CF"/>
                </a:solidFill>
              </a:defRPr>
            </a:pPr>
            <a:r>
              <a:t>  ERROR_* →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FFFF"/>
                </a:solidFill>
              </a:defRPr>
            </a:pPr>
            <a:r>
              <a:t>⚡ Core Features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Real-time FER at 30 FPS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7 emotion classification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2-second sliding windows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15-min stress pattern analysis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Session analytics &amp;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667EEA"/>
                </a:solidFill>
              </a:defRPr>
            </a:pPr>
            <a:r>
              <a:t>~500</a:t>
            </a:r>
          </a:p>
          <a:p>
            <a:pPr algn="ctr">
              <a:defRPr sz="1200">
                <a:solidFill>
                  <a:srgbClr val="B8B9CF"/>
                </a:solidFill>
              </a:defRPr>
            </a:pPr>
            <a:r>
              <a:t>Lines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389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667EEA"/>
                </a:solidFill>
              </a:defRPr>
            </a:pPr>
            <a:r>
              <a:t>~3000</a:t>
            </a:r>
          </a:p>
          <a:p>
            <a:pPr algn="ctr">
              <a:defRPr sz="1200">
                <a:solidFill>
                  <a:srgbClr val="B8B9CF"/>
                </a:solidFill>
              </a:defRPr>
            </a:pPr>
            <a:r>
              <a:t>Lines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389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667EEA"/>
                </a:solidFill>
              </a:defRPr>
            </a:pPr>
            <a:r>
              <a:t>7</a:t>
            </a:r>
          </a:p>
          <a:p>
            <a:pPr algn="ctr">
              <a:defRPr sz="1200">
                <a:solidFill>
                  <a:srgbClr val="B8B9CF"/>
                </a:solidFill>
              </a:defRPr>
            </a:pPr>
            <a:r>
              <a:t>Emotions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38912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3600" b="1">
                <a:solidFill>
                  <a:srgbClr val="667EEA"/>
                </a:solidFill>
              </a:defRPr>
            </a:pPr>
            <a:r>
              <a:t>30</a:t>
            </a:r>
          </a:p>
          <a:p>
            <a:pPr algn="ctr">
              <a:defRPr sz="1200">
                <a:solidFill>
                  <a:srgbClr val="B8B9CF"/>
                </a:solidFill>
              </a:defRPr>
            </a:pPr>
            <a:r>
              <a:t>FPS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667EEA"/>
                </a:solidFill>
              </a:defRPr>
            </a:pPr>
            <a:r>
              <a:t>System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PART III •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8DADC"/>
                </a:solidFill>
                <a:latin typeface="Monaco"/>
              </a:defRPr>
            </a:pPr>
            <a:r>
              <a:t>MindCare v1.0.0</a:t>
            </a:r>
            <a:br/>
            <a:r>
              <a:t>Initializing...</a:t>
            </a:r>
            <a:br/>
            <a:r>
              <a:t>✓ Loading face detector (OpenCV Haar Cascades)</a:t>
            </a:r>
            <a:br/>
            <a:r>
              <a:t>✓ Loading emotion classifier (CNN TensorFlow)</a:t>
            </a:r>
            <a:br/>
            <a:r>
              <a:t>✓ Initialization complete</a:t>
            </a:r>
            <a:br/>
            <a:r>
              <a:t>✓ Camera found and accessible</a:t>
            </a:r>
            <a:br/>
            <a:br/>
            <a:r>
              <a:t>==================================================</a:t>
            </a:r>
            <a:br/>
            <a:r>
              <a:t>MONITORING STARTED</a:t>
            </a:r>
            <a:br/>
            <a:r>
              <a:t>==================================================</a:t>
            </a:r>
            <a:br/>
            <a:br/>
            <a:r>
              <a:t>[14:23:15] Emotion: NEUTRAL    | Confidence: 0.78 | Valence: +0.02</a:t>
            </a:r>
            <a:br/>
            <a:r>
              <a:t>[14:23:16] Emotion: HAPPY      | Confidence: 0.65 | Valence: +0.52</a:t>
            </a:r>
            <a:br/>
            <a:r>
              <a:t>[14:23:17] Emotion: NEUTRAL    | Confidence: 0.82 | Valence: +0.01</a:t>
            </a:r>
            <a:br/>
            <a:r>
              <a:t>[14:23:18] Emotion: SAD        | Confidence: 0.71 | Valence: -0.48</a:t>
            </a:r>
            <a:br/>
            <a:br/>
            <a:r>
              <a:t>⚠️  STRESS PATTERN DETECTED</a:t>
            </a:r>
            <a:br/>
            <a:r>
              <a:t>   Negative emotions: 65.0% over last 20 readings</a:t>
            </a:r>
            <a:br/>
            <a:r>
              <a:t>   Suggestion: Consider taking a short break</a:t>
            </a:r>
            <a:br/>
            <a:br/>
            <a:r>
              <a:t>==================================================</a:t>
            </a:r>
            <a:br/>
            <a:r>
              <a:t>SESSION SUMMARY</a:t>
            </a:r>
            <a:br/>
            <a:r>
              <a:t>==================================================</a:t>
            </a:r>
            <a:br/>
            <a:r>
              <a:t>Emotion Distribution:</a:t>
            </a:r>
            <a:br/>
            <a:r>
              <a:t>  neutral   : ████████████ 60.0% (12)</a:t>
            </a:r>
            <a:br/>
            <a:r>
              <a:t>  happy     : ████ 20.0% (4)</a:t>
            </a:r>
            <a:br/>
            <a:r>
              <a:t>  sad       : ██ 10.0% 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667EEA"/>
                </a:solidFill>
              </a:defRPr>
            </a:pPr>
            <a:r>
              <a:t>Achievements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✅ Completed Deliverables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Part I: Literature review (3000+ words)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Part II: User-centered design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Part III: Working prototype (FSM)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Bonus: Professional UI mockups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🎯 Technical Validation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Real-time face detection at 30 FPS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7-emotion CNN classification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2s time-window aggregation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15-min stress pattern detection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Complete session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💡 Key Contributions to HCI</a:t>
            </a:r>
          </a:p>
          <a:p>
            <a:pPr>
              <a:spcAft>
                <a:spcPts val="600"/>
              </a:spcAft>
              <a:defRPr sz="1300">
                <a:solidFill>
                  <a:srgbClr val="B8B9CF"/>
                </a:solidFill>
              </a:defRPr>
            </a:pPr>
            <a:r>
              <a:t>1. Multimodal Design: Practical ARCADE framework in affective computing</a:t>
            </a:r>
          </a:p>
          <a:p>
            <a:pPr>
              <a:spcAft>
                <a:spcPts val="600"/>
              </a:spcAft>
              <a:defRPr sz="1300">
                <a:solidFill>
                  <a:srgbClr val="B8B9CF"/>
                </a:solidFill>
              </a:defRPr>
            </a:pPr>
            <a:r>
              <a:t>2. Privacy-First: Local processing addressing ethical concerns</a:t>
            </a:r>
          </a:p>
          <a:p>
            <a:pPr>
              <a:spcAft>
                <a:spcPts val="600"/>
              </a:spcAft>
              <a:defRPr sz="1300">
                <a:solidFill>
                  <a:srgbClr val="B8B9CF"/>
                </a:solidFill>
              </a:defRPr>
            </a:pPr>
            <a:r>
              <a:t>3. Time-Window Innovation: Reduce FER noise without storing frames</a:t>
            </a:r>
          </a:p>
          <a:p>
            <a:pPr>
              <a:spcAft>
                <a:spcPts val="600"/>
              </a:spcAft>
              <a:defRPr sz="1300">
                <a:solidFill>
                  <a:srgbClr val="B8B9CF"/>
                </a:solidFill>
              </a:defRPr>
            </a:pPr>
            <a:r>
              <a:t>4. Proactive Intervention: Pattern-based alerts for early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67EEA"/>
                </a:solidFill>
              </a:defRPr>
            </a:pPr>
            <a:r>
              <a:t>Limitations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8B9CF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⚠️ Current Limitations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Demo CNN is untrained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Only camera input functional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Console UI (no graphical)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In-memory only (no persistence)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Real-world FER accuracy ~70%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840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FFFFF"/>
                </a:solidFill>
              </a:defRPr>
            </a:pPr>
            <a:r>
              <a:t>🚀 Future Enhancements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Train FER+ model on FER-2013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Implement voice integration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Build PyQt5 GUI dashboard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Multi-person face tracking</a:t>
            </a:r>
          </a:p>
          <a:p>
            <a:pPr>
              <a:spcAft>
                <a:spcPts val="800"/>
              </a:spcAft>
              <a:defRPr sz="1400">
                <a:solidFill>
                  <a:srgbClr val="B8B9CF"/>
                </a:solidFill>
              </a:defRPr>
            </a:pPr>
            <a:r>
              <a:t>→  Integrate contextual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7680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⚠️ Critical Disclaimer</a:t>
            </a:r>
          </a:p>
          <a:p>
            <a:pPr>
              <a:defRPr sz="1300">
                <a:solidFill>
                  <a:srgbClr val="B8B9CF"/>
                </a:solidFill>
              </a:defRPr>
            </a:pPr>
            <a:r>
              <a:t>MindCare is a self-awareness tool and educational prototype. It is NOT a replacement for professional mental health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667EE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8B9CF"/>
                </a:solidFill>
              </a:defRPr>
            </a:pPr>
            <a:r>
              <a:t>MindCare: Advancing Mental Well-being Through Multimodal HCI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2000" b="1">
                <a:solidFill>
                  <a:srgbClr val="FFFFFF"/>
                </a:solidFill>
              </a:defRPr>
            </a:pPr>
            <a:r>
              <a:t>📚 Key Takeaways</a:t>
            </a:r>
          </a:p>
          <a:p>
            <a:pPr>
              <a:spcAft>
                <a:spcPts val="600"/>
              </a:spcAft>
              <a:defRPr sz="1400">
                <a:solidFill>
                  <a:srgbClr val="B8B9CF"/>
                </a:solidFill>
              </a:defRPr>
            </a:pPr>
            <a:r>
              <a:t>→  Passive monitoring enables early stress detection</a:t>
            </a:r>
          </a:p>
          <a:p>
            <a:pPr>
              <a:spcAft>
                <a:spcPts val="600"/>
              </a:spcAft>
              <a:defRPr sz="1400">
                <a:solidFill>
                  <a:srgbClr val="B8B9CF"/>
                </a:solidFill>
              </a:defRPr>
            </a:pPr>
            <a:r>
              <a:t>→  Multimodal ARCADE enhances accessibility</a:t>
            </a:r>
          </a:p>
          <a:p>
            <a:pPr>
              <a:spcAft>
                <a:spcPts val="600"/>
              </a:spcAft>
              <a:defRPr sz="1400">
                <a:solidFill>
                  <a:srgbClr val="B8B9CF"/>
                </a:solidFill>
              </a:defRPr>
            </a:pPr>
            <a:r>
              <a:t>→  Time-window processing balances accuracy &amp; privacy</a:t>
            </a:r>
          </a:p>
          <a:p>
            <a:pPr>
              <a:spcAft>
                <a:spcPts val="600"/>
              </a:spcAft>
              <a:defRPr sz="1400">
                <a:solidFill>
                  <a:srgbClr val="B8B9CF"/>
                </a:solidFill>
              </a:defRPr>
            </a:pPr>
            <a:r>
              <a:t>→  User-centered design is critical for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8B9CF"/>
                </a:solidFill>
              </a:defRPr>
            </a:pPr>
            <a:r>
              <a:t>Made with 💜 for mental well-being awareness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